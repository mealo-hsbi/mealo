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300" r:id="rId7"/>
    <p:sldId id="332" r:id="rId8"/>
    <p:sldId id="333" r:id="rId9"/>
    <p:sldId id="360" r:id="rId10"/>
    <p:sldId id="361" r:id="rId11"/>
    <p:sldId id="362" r:id="rId12"/>
    <p:sldId id="363" r:id="rId13"/>
    <p:sldId id="364" r:id="rId14"/>
    <p:sldId id="368" r:id="rId15"/>
    <p:sldId id="369" r:id="rId16"/>
    <p:sldId id="301" r:id="rId17"/>
    <p:sldId id="366" r:id="rId18"/>
    <p:sldId id="36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 und Agenda" id="{01670DA1-0965-47A8-8905-5DA15E7FF2DB}">
          <p14:sldIdLst>
            <p14:sldId id="256"/>
            <p14:sldId id="257"/>
          </p14:sldIdLst>
        </p14:section>
        <p14:section name="Projektüberblick und Grundlagen" id="{A9F4C317-4107-44E9-A9CE-EFE1E8B65DFD}">
          <p14:sldIdLst>
            <p14:sldId id="300"/>
            <p14:sldId id="332"/>
            <p14:sldId id="333"/>
            <p14:sldId id="360"/>
            <p14:sldId id="361"/>
            <p14:sldId id="362"/>
            <p14:sldId id="363"/>
            <p14:sldId id="364"/>
            <p14:sldId id="368"/>
            <p14:sldId id="369"/>
          </p14:sldIdLst>
        </p14:section>
        <p14:section name="Anforderungsanalyse" id="{13805DA1-2069-4BC9-A062-C7D97EACDFC8}">
          <p14:sldIdLst>
            <p14:sldId id="301"/>
            <p14:sldId id="366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206E"/>
    <a:srgbClr val="DD3545"/>
    <a:srgbClr val="27A645"/>
    <a:srgbClr val="333A40"/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 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3" name="Datumsplatzhalter 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664C4DC0-9876-4E6F-9F41-5927D213A67E}" type="datetime1">
              <a:rPr lang="de-DE" smtClean="0"/>
              <a:t>03.07.2025</a:t>
            </a:fld>
            <a:endParaRPr lang="de-DE"/>
          </a:p>
        </p:txBody>
      </p:sp>
      <p:sp>
        <p:nvSpPr>
          <p:cNvPr id="4" name="Fußzeilenplatzhalter 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5" name="Foliennummernplatzhalter 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EAFF3A6F-DEFA-45E0-9496-BEE7C2C6F3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3" name="Datumsplatzhalter 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2C2EA0FA-C0C7-43B0-9915-13FE01CBAEE6}" type="datetime1">
              <a:rPr lang="de-DE" smtClean="0"/>
              <a:t>03.07.2025</a:t>
            </a:fld>
            <a:endParaRPr lang="de-DE"/>
          </a:p>
        </p:txBody>
      </p:sp>
      <p:sp>
        <p:nvSpPr>
          <p:cNvPr id="4" name="Folienbildplatzhalter 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5" name="Notizenplatzhalter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/>
              <a:t>Klicken, um Mastertextformatvorlagen zu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7" name="Foliennummernplatzhalter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F97DC217-DF71-1A49-B3EA-559F1F43B0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 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F97DC217-DF71-1A49-B3EA-559F1F43B0F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 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F97DC217-DF71-1A49-B3EA-559F1F43B0F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 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F97DC217-DF71-1A49-B3EA-559F1F43B0F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3531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4A877-D3A8-2C04-F04A-318AA82E7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 1">
            <a:extLst>
              <a:ext uri="{FF2B5EF4-FFF2-40B4-BE49-F238E27FC236}">
                <a16:creationId xmlns:a16="http://schemas.microsoft.com/office/drawing/2014/main" id="{B63DAB41-5686-D4A9-A9AE-70CAFE9CD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 2">
            <a:extLst>
              <a:ext uri="{FF2B5EF4-FFF2-40B4-BE49-F238E27FC236}">
                <a16:creationId xmlns:a16="http://schemas.microsoft.com/office/drawing/2014/main" id="{4D8D9303-33A2-EB95-A03C-817056098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 3">
            <a:extLst>
              <a:ext uri="{FF2B5EF4-FFF2-40B4-BE49-F238E27FC236}">
                <a16:creationId xmlns:a16="http://schemas.microsoft.com/office/drawing/2014/main" id="{0864A9F3-EE74-4A3C-2E11-CF6F6F874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F97DC217-DF71-1A49-B3EA-559F1F43B0F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9366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88F8-810D-B537-D1D1-A59F7BD2F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 1">
            <a:extLst>
              <a:ext uri="{FF2B5EF4-FFF2-40B4-BE49-F238E27FC236}">
                <a16:creationId xmlns:a16="http://schemas.microsoft.com/office/drawing/2014/main" id="{93B5DBD3-DE99-5B2A-4134-46E485D16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 2">
            <a:extLst>
              <a:ext uri="{FF2B5EF4-FFF2-40B4-BE49-F238E27FC236}">
                <a16:creationId xmlns:a16="http://schemas.microsoft.com/office/drawing/2014/main" id="{056CA42F-E5D6-0A8B-6110-78D7992B7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 3">
            <a:extLst>
              <a:ext uri="{FF2B5EF4-FFF2-40B4-BE49-F238E27FC236}">
                <a16:creationId xmlns:a16="http://schemas.microsoft.com/office/drawing/2014/main" id="{5524226C-74EE-9B80-5491-7BF5B8B77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F97DC217-DF71-1A49-B3EA-559F1F43B0F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3187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 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F97DC217-DF71-1A49-B3EA-559F1F43B0FF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2125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de-DE"/>
              <a:t>08.09.20XX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965206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de-DE"/>
              <a:t>08.09.20XX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  <p:grpSp>
        <p:nvGrpSpPr>
          <p:cNvPr id="7" name="Gruppe 12">
            <a:extLst>
              <a:ext uri="{FF2B5EF4-FFF2-40B4-BE49-F238E27FC236}">
                <a16:creationId xmlns:a16="http://schemas.microsoft.com/office/drawing/2014/main" id="{CDE13B2B-A84A-9EFE-0F52-0E4EB8F22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8" name="Freihandform 3">
              <a:extLst>
                <a:ext uri="{FF2B5EF4-FFF2-40B4-BE49-F238E27FC236}">
                  <a16:creationId xmlns:a16="http://schemas.microsoft.com/office/drawing/2014/main" id="{E5966171-9B69-9273-35ED-0707D8CC1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  <p:sp>
          <p:nvSpPr>
            <p:cNvPr id="9" name="Freihandform 4">
              <a:extLst>
                <a:ext uri="{FF2B5EF4-FFF2-40B4-BE49-F238E27FC236}">
                  <a16:creationId xmlns:a16="http://schemas.microsoft.com/office/drawing/2014/main" id="{DD9B6D61-F3C7-3130-7CA6-D49E7B379E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>
                <a:latin typeface="+mn-lt"/>
              </a:endParaRPr>
            </a:p>
          </p:txBody>
        </p:sp>
        <p:sp>
          <p:nvSpPr>
            <p:cNvPr id="10" name="Freihandform 5">
              <a:extLst>
                <a:ext uri="{FF2B5EF4-FFF2-40B4-BE49-F238E27FC236}">
                  <a16:creationId xmlns:a16="http://schemas.microsoft.com/office/drawing/2014/main" id="{414700A0-3693-B42F-2CA5-6A0BD5C2DC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  <p:grpSp>
          <p:nvGrpSpPr>
            <p:cNvPr id="11" name="Gruppe 8">
              <a:extLst>
                <a:ext uri="{FF2B5EF4-FFF2-40B4-BE49-F238E27FC236}">
                  <a16:creationId xmlns:a16="http://schemas.microsoft.com/office/drawing/2014/main" id="{120D950D-4AF2-7E69-77D8-3C26CE09A1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12" name="Freihandform 6">
                <a:extLst>
                  <a:ext uri="{FF2B5EF4-FFF2-40B4-BE49-F238E27FC236}">
                    <a16:creationId xmlns:a16="http://schemas.microsoft.com/office/drawing/2014/main" id="{FA86A8A2-3F74-6424-3BED-B0BAA2C90F06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>
                  <a:latin typeface="+mn-lt"/>
                </a:endParaRPr>
              </a:p>
            </p:txBody>
          </p:sp>
          <p:sp>
            <p:nvSpPr>
              <p:cNvPr id="13" name="Freihandform 7">
                <a:extLst>
                  <a:ext uri="{FF2B5EF4-FFF2-40B4-BE49-F238E27FC236}">
                    <a16:creationId xmlns:a16="http://schemas.microsoft.com/office/drawing/2014/main" id="{67CCEE34-2EA6-49EC-B340-D1D79A23482C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54207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de-DE"/>
              <a:t>08.09.20XX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68027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de-DE"/>
              <a:t>08.09.20XX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863086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de-DE"/>
              <a:t>08.09.20XX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887420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de-DE"/>
              <a:t>08.09.20XX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911965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de-DE"/>
              <a:t>08.09.20XX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233301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de-DE"/>
              <a:t>08.09.20XX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061120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de-DE"/>
              <a:t>08.09.20XX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88990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de-DE"/>
              <a:t>08.09.20XX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318704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de-DE"/>
              <a:t>08.09.20XX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667732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de-DE"/>
              <a:t>08.09.20XX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284003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de-DE"/>
              <a:t>08.09.20XX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227298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de-DE"/>
              <a:t>08.09.20XX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426508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de-DE"/>
              <a:t>08.09.20XX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373592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de-DE"/>
              <a:t>08.09.20XX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778998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recht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e 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ihandform 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  <p:sp>
          <p:nvSpPr>
            <p:cNvPr id="5" name="Freihandform 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>
                <a:latin typeface="+mn-lt"/>
              </a:endParaRPr>
            </a:p>
          </p:txBody>
        </p:sp>
        <p:sp>
          <p:nvSpPr>
            <p:cNvPr id="6" name="Freihandform 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  <p:grpSp>
          <p:nvGrpSpPr>
            <p:cNvPr id="9" name="Gruppe 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ihandform 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>
                  <a:latin typeface="+mn-lt"/>
                </a:endParaRPr>
              </a:p>
            </p:txBody>
          </p:sp>
          <p:sp>
            <p:nvSpPr>
              <p:cNvPr id="8" name="Freihandform 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>
                  <a:latin typeface="+mn-lt"/>
                </a:endParaRPr>
              </a:p>
            </p:txBody>
          </p:sp>
        </p:grpSp>
      </p:grpSp>
      <p:sp>
        <p:nvSpPr>
          <p:cNvPr id="2" name="Titel 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rtlCol="0" anchor="ctr" anchorCtr="0">
            <a:noAutofit/>
          </a:bodyPr>
          <a:lstStyle>
            <a:lvl1pPr>
              <a:defRPr lang="de-DE" sz="6000" b="1">
                <a:latin typeface="+mj-lt"/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15" name="Bildplatzhalter 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10" name="Datumsplatzhalter 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de-DE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de-DE"/>
              <a:t>08.09.20XX</a:t>
            </a:r>
          </a:p>
        </p:txBody>
      </p:sp>
      <p:sp>
        <p:nvSpPr>
          <p:cNvPr id="11" name="Fußzeilenplatzhalter 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de-DE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de-DE"/>
          </a:p>
        </p:txBody>
      </p:sp>
      <p:sp>
        <p:nvSpPr>
          <p:cNvPr id="12" name="Foliennummernplatzhalter 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de-DE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53345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 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e 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hteck 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  <p:sp>
          <p:nvSpPr>
            <p:cNvPr id="12" name="Freihandform 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  <p:sp>
          <p:nvSpPr>
            <p:cNvPr id="14" name="Freihandform 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  <p:sp>
          <p:nvSpPr>
            <p:cNvPr id="15" name="Freihandform 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</p:grpSp>
      <p:sp>
        <p:nvSpPr>
          <p:cNvPr id="13" name="Titel 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rtlCol="0" anchor="b">
            <a:noAutofit/>
          </a:bodyPr>
          <a:lstStyle>
            <a:lvl1pPr>
              <a:defRPr lang="de-DE" sz="4200" b="1">
                <a:latin typeface="+mj-lt"/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3" name="Inhaltsplatzhalter 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 rtlCol="0"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de-DE"/>
              <a:t>Text durch Klicken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Datumsplatzhalter 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de-DE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de-DE"/>
              <a:t>08.09.20XX</a:t>
            </a:r>
          </a:p>
        </p:txBody>
      </p:sp>
      <p:sp>
        <p:nvSpPr>
          <p:cNvPr id="5" name="Fußzeilenplatzhalter 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de-DE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de-DE"/>
          </a:p>
        </p:txBody>
      </p:sp>
      <p:sp>
        <p:nvSpPr>
          <p:cNvPr id="6" name="Foliennummernplatzhalter 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de-DE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87476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 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grpSp>
        <p:nvGrpSpPr>
          <p:cNvPr id="7" name="Gruppe 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 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  <p:sp>
          <p:nvSpPr>
            <p:cNvPr id="11" name="Freihandform 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  <p:sp>
          <p:nvSpPr>
            <p:cNvPr id="9" name="Freihandform 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  <p:grpSp>
          <p:nvGrpSpPr>
            <p:cNvPr id="6" name="Gruppe 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ihandform 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/>
              </a:p>
            </p:txBody>
          </p:sp>
          <p:sp>
            <p:nvSpPr>
              <p:cNvPr id="16" name="Freihandform 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/>
              </a:p>
            </p:txBody>
          </p:sp>
        </p:grpSp>
        <p:sp>
          <p:nvSpPr>
            <p:cNvPr id="22" name="Freihandform 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  <p:sp>
          <p:nvSpPr>
            <p:cNvPr id="28" name="Freihandform 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</p:grpSp>
      <p:sp>
        <p:nvSpPr>
          <p:cNvPr id="2" name="Titel 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rtlCol="0" anchor="b">
            <a:noAutofit/>
          </a:bodyPr>
          <a:lstStyle>
            <a:lvl1pPr algn="l">
              <a:defRPr lang="de-DE" sz="6000" b="1">
                <a:latin typeface="+mj-lt"/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link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e 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ihandform 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  <p:sp>
          <p:nvSpPr>
            <p:cNvPr id="5" name="Freihandform 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>
                <a:latin typeface="+mn-lt"/>
              </a:endParaRPr>
            </a:p>
          </p:txBody>
        </p:sp>
        <p:sp>
          <p:nvSpPr>
            <p:cNvPr id="6" name="Freihandform 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  <p:grpSp>
          <p:nvGrpSpPr>
            <p:cNvPr id="9" name="Gruppe 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ihandform 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>
                  <a:latin typeface="+mn-lt"/>
                </a:endParaRPr>
              </a:p>
            </p:txBody>
          </p:sp>
          <p:sp>
            <p:nvSpPr>
              <p:cNvPr id="8" name="Freihandform 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>
                  <a:latin typeface="+mn-lt"/>
                </a:endParaRPr>
              </a:p>
            </p:txBody>
          </p:sp>
        </p:grpSp>
      </p:grpSp>
      <p:sp>
        <p:nvSpPr>
          <p:cNvPr id="2" name="Titel 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rtlCol="0" anchor="b" anchorCtr="0">
            <a:noAutofit/>
          </a:bodyPr>
          <a:lstStyle>
            <a:lvl1pPr>
              <a:defRPr lang="de-DE" sz="6000" b="1">
                <a:latin typeface="+mj-lt"/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3" name="Untertitel 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rtlCol="0" anchor="t" anchorCtr="0">
            <a:noAutofit/>
          </a:bodyPr>
          <a:lstStyle>
            <a:lvl1pPr marL="0" indent="0" algn="l">
              <a:buNone/>
              <a:defRPr lang="de-DE" sz="3200">
                <a:latin typeface="+mn-lt"/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rtl="0"/>
            <a:r>
              <a:rPr lang="de-DE"/>
              <a:t>Untertitel durch Klicken hinzuzufügen</a:t>
            </a:r>
          </a:p>
        </p:txBody>
      </p:sp>
      <p:sp>
        <p:nvSpPr>
          <p:cNvPr id="15" name="Bildplatzhalter 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10" name="Datumsplatzhalter 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de-DE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de-DE"/>
              <a:t>08.09.20XX</a:t>
            </a:r>
          </a:p>
        </p:txBody>
      </p:sp>
      <p:sp>
        <p:nvSpPr>
          <p:cNvPr id="11" name="Fußzeilenplatzhalter 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de-DE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de-DE"/>
          </a:p>
        </p:txBody>
      </p:sp>
      <p:sp>
        <p:nvSpPr>
          <p:cNvPr id="12" name="Foliennummernplatzhalter 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de-DE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Spalten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e 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ihandform 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  <p:sp>
          <p:nvSpPr>
            <p:cNvPr id="5" name="Freihandform 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  <p:sp>
          <p:nvSpPr>
            <p:cNvPr id="6" name="Freihandform 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  <p:grpSp>
          <p:nvGrpSpPr>
            <p:cNvPr id="9" name="Gruppe 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ihandform 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>
                  <a:latin typeface="+mn-lt"/>
                </a:endParaRPr>
              </a:p>
            </p:txBody>
          </p:sp>
          <p:sp>
            <p:nvSpPr>
              <p:cNvPr id="8" name="Freihandform 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>
                  <a:latin typeface="+mn-lt"/>
                </a:endParaRPr>
              </a:p>
            </p:txBody>
          </p:sp>
        </p:grpSp>
      </p:grpSp>
      <p:sp>
        <p:nvSpPr>
          <p:cNvPr id="2" name="Titel 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Autofit/>
          </a:bodyPr>
          <a:lstStyle>
            <a:lvl1pPr>
              <a:defRPr lang="de-DE" sz="4200" b="1">
                <a:latin typeface="+mj-lt"/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3" name="Inhaltsplatzhalter 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de-DE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latin typeface="+mn-lt"/>
              </a:defRPr>
            </a:lvl5pPr>
          </a:lstStyle>
          <a:p>
            <a:pPr lvl="0" rtl="0"/>
            <a:r>
              <a:rPr lang="de-DE"/>
              <a:t>Text durch Klicken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3" name="Inhaltsplatzhalter 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de-DE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latin typeface="+mn-lt"/>
              </a:defRPr>
            </a:lvl5pPr>
          </a:lstStyle>
          <a:p>
            <a:pPr lvl="0" rtl="0"/>
            <a:r>
              <a:rPr lang="de-DE"/>
              <a:t>Text durch Klicken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0" name="Datumsplatzhalter 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de-DE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de-DE"/>
              <a:t>08.09.20XX</a:t>
            </a:r>
          </a:p>
        </p:txBody>
      </p:sp>
      <p:sp>
        <p:nvSpPr>
          <p:cNvPr id="11" name="Fußzeilenplatzhalter 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de-DE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de-DE"/>
          </a:p>
        </p:txBody>
      </p:sp>
      <p:sp>
        <p:nvSpPr>
          <p:cNvPr id="12" name="Foliennummernplatzhalter 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de-DE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e 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ihandform 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  <p:sp>
          <p:nvSpPr>
            <p:cNvPr id="5" name="Freihandform 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</p:grpSp>
      <p:sp>
        <p:nvSpPr>
          <p:cNvPr id="2" name="Titel 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rtlCol="0" anchor="b">
            <a:noAutofit/>
          </a:bodyPr>
          <a:lstStyle>
            <a:lvl1pPr>
              <a:defRPr lang="de-DE" sz="42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14" name="Inhaltsplatzhalter 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lang="de-DE"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lang="de-DE"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lang="de-DE"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lang="de-DE"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lang="de-DE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de-DE"/>
              <a:t>Text durch Klicken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9" name="Inhaltsplatzhalter 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de-DE"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de-DE"/>
              <a:t>Text durch Klicken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0" name="Datumsplatzhalter 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de-DE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de-DE"/>
              <a:t>08.09.20XX</a:t>
            </a:r>
          </a:p>
        </p:txBody>
      </p:sp>
      <p:sp>
        <p:nvSpPr>
          <p:cNvPr id="11" name="Fußzeilenplatzhalter 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de-DE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de-DE"/>
          </a:p>
        </p:txBody>
      </p:sp>
      <p:sp>
        <p:nvSpPr>
          <p:cNvPr id="12" name="Foliennummernplatzhalter 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de-DE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 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e 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ihandform 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  <p:sp>
          <p:nvSpPr>
            <p:cNvPr id="14" name="Freihandform 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</p:grpSp>
      <p:sp>
        <p:nvSpPr>
          <p:cNvPr id="2" name="Titel 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rtlCol="0" anchor="b">
            <a:noAutofit/>
          </a:bodyPr>
          <a:lstStyle>
            <a:lvl1pPr>
              <a:defRPr lang="de-DE" sz="4200" b="1">
                <a:latin typeface="+mj-lt"/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4" name="Inhaltsplatzhalter 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 rtlCol="0">
            <a:noAutofit/>
          </a:bodyPr>
          <a:lstStyle>
            <a:lvl1pPr marL="0" indent="0">
              <a:buNone/>
              <a:defRPr lang="de-DE" sz="2000">
                <a:latin typeface="+mn-lt"/>
              </a:defRPr>
            </a:lvl1pPr>
            <a:lvl2pPr marL="457200" indent="0">
              <a:buNone/>
              <a:defRPr lang="de-DE" sz="2000">
                <a:latin typeface="+mn-lt"/>
              </a:defRPr>
            </a:lvl2pPr>
            <a:lvl3pPr marL="914400" indent="0">
              <a:buNone/>
              <a:defRPr lang="de-DE" sz="2000">
                <a:latin typeface="+mn-lt"/>
              </a:defRPr>
            </a:lvl3pPr>
            <a:lvl4pPr marL="1371600" indent="0">
              <a:buNone/>
              <a:defRPr lang="de-DE" sz="2000">
                <a:latin typeface="+mn-lt"/>
              </a:defRPr>
            </a:lvl4pPr>
            <a:lvl5pPr marL="1828800" indent="0">
              <a:buNone/>
              <a:defRPr lang="de-DE" sz="2000">
                <a:latin typeface="+mn-lt"/>
              </a:defRPr>
            </a:lvl5pPr>
          </a:lstStyle>
          <a:p>
            <a:pPr lvl="0" rtl="0"/>
            <a:r>
              <a:rPr lang="de-DE"/>
              <a:t>Text durch Klicken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3" name="Inhaltsplatzhalter 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 rtlCol="0">
            <a:noAutofit/>
          </a:bodyPr>
          <a:lstStyle>
            <a:lvl1pPr marL="0" indent="0">
              <a:buNone/>
              <a:defRPr lang="de-DE">
                <a:latin typeface="+mn-lt"/>
              </a:defRPr>
            </a:lvl1pPr>
            <a:lvl2pPr marL="457200" indent="0">
              <a:buNone/>
              <a:defRPr lang="de-DE">
                <a:latin typeface="+mn-lt"/>
              </a:defRPr>
            </a:lvl2pPr>
            <a:lvl3pPr marL="914400" indent="0">
              <a:buNone/>
              <a:defRPr lang="de-DE">
                <a:latin typeface="+mn-lt"/>
              </a:defRPr>
            </a:lvl3pPr>
            <a:lvl4pPr marL="1371600" indent="0">
              <a:buNone/>
              <a:defRPr lang="de-DE">
                <a:latin typeface="+mn-lt"/>
              </a:defRPr>
            </a:lvl4pPr>
            <a:lvl5pPr marL="1828800" indent="0">
              <a:buNone/>
              <a:defRPr lang="de-DE">
                <a:latin typeface="+mn-lt"/>
              </a:defRPr>
            </a:lvl5pPr>
          </a:lstStyle>
          <a:p>
            <a:pPr lvl="0" rtl="0"/>
            <a:r>
              <a:rPr lang="de-DE"/>
              <a:t>Inhalt durch Klicken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0" name="Datumsplatzhalter 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de-DE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de-DE"/>
              <a:t>08.09.20XX</a:t>
            </a:r>
          </a:p>
        </p:txBody>
      </p:sp>
      <p:sp>
        <p:nvSpPr>
          <p:cNvPr id="11" name="Fußzeilenplatzhalter 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de-DE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de-DE"/>
          </a:p>
        </p:txBody>
      </p:sp>
      <p:sp>
        <p:nvSpPr>
          <p:cNvPr id="12" name="Foliennummernplatzhalter 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de-DE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 und Bild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pe 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ihandform 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/>
            </a:p>
          </p:txBody>
        </p:sp>
        <p:sp>
          <p:nvSpPr>
            <p:cNvPr id="5" name="Freihandform 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>
                <a:latin typeface="+mn-lt"/>
              </a:endParaRPr>
            </a:p>
          </p:txBody>
        </p:sp>
        <p:grpSp>
          <p:nvGrpSpPr>
            <p:cNvPr id="9" name="Gruppe 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ihandform 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>
                  <a:latin typeface="+mn-lt"/>
                </a:endParaRPr>
              </a:p>
            </p:txBody>
          </p:sp>
          <p:sp>
            <p:nvSpPr>
              <p:cNvPr id="8" name="Freihandform 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>
                  <a:latin typeface="+mn-lt"/>
                </a:endParaRPr>
              </a:p>
            </p:txBody>
          </p:sp>
        </p:grpSp>
      </p:grpSp>
      <p:sp>
        <p:nvSpPr>
          <p:cNvPr id="2" name="Titel 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rtlCol="0" anchor="b">
            <a:noAutofit/>
          </a:bodyPr>
          <a:lstStyle>
            <a:lvl1pPr>
              <a:defRPr lang="de-DE" sz="4200" b="1">
                <a:latin typeface="+mj-lt"/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15" name="Inhaltsplatzhalter 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lang="de-DE"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lang="de-DE"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lang="de-DE"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lang="de-DE" sz="2000">
                <a:latin typeface="+mn-lt"/>
              </a:defRPr>
            </a:lvl5pPr>
          </a:lstStyle>
          <a:p>
            <a:pPr lvl="0" rtl="0"/>
            <a:r>
              <a:rPr lang="de-DE"/>
              <a:t>Text durch Klicken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0" name="Datumsplatzhalter 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de-DE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de-DE"/>
              <a:t>08.09.20XX</a:t>
            </a:r>
          </a:p>
        </p:txBody>
      </p:sp>
      <p:sp>
        <p:nvSpPr>
          <p:cNvPr id="11" name="Fußzeilenplatzhalter 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de-DE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de-DE"/>
          </a:p>
        </p:txBody>
      </p:sp>
      <p:sp>
        <p:nvSpPr>
          <p:cNvPr id="12" name="Foliennummernplatzhalter 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de-DE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3" name="Inhaltsplatzhalter 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 rtlCol="0"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de-DE" sz="2000">
                <a:solidFill>
                  <a:schemeClr val="tx1"/>
                </a:solidFill>
                <a:latin typeface="+mn-lt"/>
              </a:defRPr>
            </a:lvl5pPr>
          </a:lstStyle>
          <a:p>
            <a:pPr lvl="0" rtl="0"/>
            <a:r>
              <a:rPr lang="de-DE"/>
              <a:t>Text durch Klicken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e-DE"/>
              <a:t>08.09.20XX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rtl="0"/>
            <a:fld id="{294A09A9-5501-47C1-A89A-A340965A2B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5962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7" r:id="rId18"/>
    <p:sldLayoutId id="2147483649" r:id="rId19"/>
    <p:sldLayoutId id="2147483674" r:id="rId20"/>
    <p:sldLayoutId id="2147483668" r:id="rId21"/>
    <p:sldLayoutId id="2147483669" r:id="rId22"/>
    <p:sldLayoutId id="2147483677" r:id="rId23"/>
    <p:sldLayoutId id="2147483676" r:id="rId2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svg"/><Relationship Id="rId9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F8BEBA1-5942-E01C-9296-A89BB70BA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t="16514" b="12481"/>
          <a:stretch>
            <a:fillRect/>
          </a:stretch>
        </p:blipFill>
        <p:spPr bwMode="auto">
          <a:xfrm>
            <a:off x="1167492" y="519176"/>
            <a:ext cx="4500562" cy="4793488"/>
          </a:xfrm>
          <a:prstGeom prst="ellipse">
            <a:avLst/>
          </a:prstGeom>
          <a:solidFill>
            <a:srgbClr val="FFFFFF"/>
          </a:solidFill>
        </p:spPr>
      </p:pic>
      <p:sp>
        <p:nvSpPr>
          <p:cNvPr id="2" name="Titel 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545336"/>
            <a:ext cx="6015946" cy="4438650"/>
          </a:xfrm>
        </p:spPr>
        <p:txBody>
          <a:bodyPr rtlCol="0" anchor="ctr">
            <a:normAutofit/>
          </a:bodyPr>
          <a:lstStyle>
            <a:defPPr>
              <a:defRPr lang="de-DE"/>
            </a:defPPr>
          </a:lstStyle>
          <a:p>
            <a:br>
              <a:rPr lang="de-DE" sz="4700" dirty="0"/>
            </a:br>
            <a:r>
              <a:rPr lang="de-DE" sz="2400" dirty="0"/>
              <a:t>Dein smarter Küchenbegleiter</a:t>
            </a:r>
            <a:endParaRPr lang="de-DE" sz="4700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Agenda</a:t>
            </a:r>
          </a:p>
        </p:txBody>
      </p:sp>
      <p:sp>
        <p:nvSpPr>
          <p:cNvPr id="3" name="Inhaltsplatzhalter 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Einführung</a:t>
            </a:r>
          </a:p>
          <a:p>
            <a:pPr rtl="0"/>
            <a:r>
              <a:rPr lang="de-DE" dirty="0"/>
              <a:t>Produktidee </a:t>
            </a:r>
          </a:p>
          <a:p>
            <a:pPr rtl="0"/>
            <a:r>
              <a:rPr lang="de-DE" dirty="0"/>
              <a:t>System-Architektur</a:t>
            </a:r>
          </a:p>
          <a:p>
            <a:pPr rtl="0"/>
            <a:r>
              <a:rPr lang="de-DE" dirty="0" err="1"/>
              <a:t>Lessons</a:t>
            </a:r>
            <a:r>
              <a:rPr lang="de-DE" dirty="0"/>
              <a:t> </a:t>
            </a:r>
            <a:r>
              <a:rPr lang="de-DE" dirty="0" err="1"/>
              <a:t>Learned</a:t>
            </a:r>
            <a:endParaRPr lang="de-DE" dirty="0"/>
          </a:p>
          <a:p>
            <a:pPr rtl="0"/>
            <a:r>
              <a:rPr lang="de-DE" dirty="0"/>
              <a:t>Fazit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172" y="548745"/>
            <a:ext cx="5676927" cy="3269447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Einführung</a:t>
            </a:r>
          </a:p>
        </p:txBody>
      </p:sp>
    </p:spTree>
    <p:extLst>
      <p:ext uri="{BB962C8B-B14F-4D97-AF65-F5344CB8AC3E}">
        <p14:creationId xmlns:p14="http://schemas.microsoft.com/office/powerpoint/2010/main" val="1704052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4D4FC9-E541-96A8-D4F0-2ECEABF6B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8579495" cy="39176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de-DE" b="1" dirty="0">
                <a:ea typeface="+mn-lt"/>
                <a:cs typeface="+mn-lt"/>
              </a:rPr>
              <a:t>Ziel des Projekts: </a:t>
            </a:r>
            <a:r>
              <a:rPr lang="de-DE" dirty="0">
                <a:ea typeface="+mn-lt"/>
                <a:cs typeface="+mn-lt"/>
              </a:rPr>
              <a:t>Entwicklung einer innovativen mobilen Anwendung, die als smarter Küchenbegleiter fungiert und Nutzern hilft, effizienter und bewusster zu kochen.</a:t>
            </a:r>
          </a:p>
          <a:p>
            <a:pPr marL="285750" indent="-285750">
              <a:buFont typeface="Arial"/>
              <a:buChar char="•"/>
            </a:pPr>
            <a:r>
              <a:rPr lang="de-DE" b="1" dirty="0">
                <a:ea typeface="+mn-lt"/>
                <a:cs typeface="+mn-lt"/>
              </a:rPr>
              <a:t>Motivation: </a:t>
            </a:r>
            <a:r>
              <a:rPr lang="de-DE" dirty="0">
                <a:ea typeface="+mn-lt"/>
                <a:cs typeface="+mn-lt"/>
              </a:rPr>
              <a:t>Lebensmittelverschwendung reduzieren, Zeit sparen und gesundere Ernährung fördern</a:t>
            </a:r>
          </a:p>
          <a:p>
            <a:pPr marL="285750" indent="-285750">
              <a:buFont typeface="Arial"/>
              <a:buChar char="•"/>
            </a:pPr>
            <a:r>
              <a:rPr lang="de-DE" b="1" dirty="0">
                <a:ea typeface="+mn-lt"/>
                <a:cs typeface="+mn-lt"/>
              </a:rPr>
              <a:t>Team: </a:t>
            </a:r>
            <a:endParaRPr lang="de-DE" b="1" dirty="0"/>
          </a:p>
        </p:txBody>
      </p:sp>
      <p:pic>
        <p:nvPicPr>
          <p:cNvPr id="4" name="Bildplatzhalter 4" descr="Ein Bild, das Person, Menschliches Gesicht, Wand, Im Haus enthält.&#10;&#10;Beschreibung automatisch generiert.">
            <a:extLst>
              <a:ext uri="{FF2B5EF4-FFF2-40B4-BE49-F238E27FC236}">
                <a16:creationId xmlns:a16="http://schemas.microsoft.com/office/drawing/2014/main" id="{E2C1E5E3-6E2C-8E91-3500-51C04DC891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50" b="9250"/>
          <a:stretch/>
        </p:blipFill>
        <p:spPr>
          <a:xfrm>
            <a:off x="2653224" y="3828274"/>
            <a:ext cx="1900468" cy="1900468"/>
          </a:xfrm>
          <a:prstGeom prst="ellipse">
            <a:avLst/>
          </a:prstGeom>
          <a:solidFill>
            <a:schemeClr val="accent2"/>
          </a:solidFill>
        </p:spPr>
      </p:pic>
      <p:sp>
        <p:nvSpPr>
          <p:cNvPr id="8" name="Inhaltsplatzhalter 2">
            <a:extLst>
              <a:ext uri="{FF2B5EF4-FFF2-40B4-BE49-F238E27FC236}">
                <a16:creationId xmlns:a16="http://schemas.microsoft.com/office/drawing/2014/main" id="{37B4D25C-EA78-415F-CD08-A1EF4F4009BD}"/>
              </a:ext>
            </a:extLst>
          </p:cNvPr>
          <p:cNvSpPr txBox="1">
            <a:spLocks/>
          </p:cNvSpPr>
          <p:nvPr/>
        </p:nvSpPr>
        <p:spPr>
          <a:xfrm>
            <a:off x="2376976" y="5753868"/>
            <a:ext cx="2452965" cy="34035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de-DE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dirty="0"/>
              <a:t>Danny Meihöfer</a:t>
            </a:r>
          </a:p>
        </p:txBody>
      </p:sp>
      <p:pic>
        <p:nvPicPr>
          <p:cNvPr id="9" name="Bildplatzhalter 7" descr="Ein Bild, das Person, Menschliches Gesicht, Kleidung, Krawatte enthält.&#10;&#10;Beschreibung automatisch generiert.">
            <a:extLst>
              <a:ext uri="{FF2B5EF4-FFF2-40B4-BE49-F238E27FC236}">
                <a16:creationId xmlns:a16="http://schemas.microsoft.com/office/drawing/2014/main" id="{517DB83C-4E7E-4618-C3FD-16EDBFB2A7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" r="19"/>
          <a:stretch/>
        </p:blipFill>
        <p:spPr>
          <a:xfrm>
            <a:off x="5146157" y="3828274"/>
            <a:ext cx="1899683" cy="1901270"/>
          </a:xfrm>
          <a:prstGeom prst="ellipse">
            <a:avLst/>
          </a:prstGeom>
        </p:spPr>
      </p:pic>
      <p:sp>
        <p:nvSpPr>
          <p:cNvPr id="10" name="Inhaltsplatzhalter 2">
            <a:extLst>
              <a:ext uri="{FF2B5EF4-FFF2-40B4-BE49-F238E27FC236}">
                <a16:creationId xmlns:a16="http://schemas.microsoft.com/office/drawing/2014/main" id="{C20D5868-0D9C-5363-C7A5-3F013FD56EF9}"/>
              </a:ext>
            </a:extLst>
          </p:cNvPr>
          <p:cNvSpPr txBox="1">
            <a:spLocks/>
          </p:cNvSpPr>
          <p:nvPr/>
        </p:nvSpPr>
        <p:spPr>
          <a:xfrm>
            <a:off x="4869517" y="5753868"/>
            <a:ext cx="2452965" cy="34035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de-DE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dirty="0"/>
              <a:t>Bjarne</a:t>
            </a:r>
            <a:br>
              <a:rPr lang="de-DE" dirty="0"/>
            </a:br>
            <a:r>
              <a:rPr lang="de-DE" dirty="0"/>
              <a:t>Zaremba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85F7AAD-0C5E-D4FA-8FB5-53A3EC52E2C4}"/>
              </a:ext>
            </a:extLst>
          </p:cNvPr>
          <p:cNvSpPr txBox="1">
            <a:spLocks/>
          </p:cNvSpPr>
          <p:nvPr/>
        </p:nvSpPr>
        <p:spPr>
          <a:xfrm>
            <a:off x="1158864" y="984336"/>
            <a:ext cx="9779183" cy="12731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de-DE" dirty="0"/>
              <a:t>Projektüberblick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52020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07943A-D1E1-802C-BEA7-31950B3F7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984336"/>
            <a:ext cx="9779183" cy="1273179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dirty="0"/>
              <a:t>Kontext der Entwicklung</a:t>
            </a:r>
            <a:endParaRPr lang="de-DE" b="0" dirty="0"/>
          </a:p>
          <a:p>
            <a:endParaRPr lang="de-DE" b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DEF909-1644-DB99-3B91-3FEA61FD2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8488055" cy="405692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de-DE" b="1" dirty="0">
                <a:ea typeface="+mn-lt"/>
                <a:cs typeface="+mn-lt"/>
              </a:rPr>
              <a:t>Hintergrund: </a:t>
            </a:r>
            <a:r>
              <a:rPr lang="de-DE" dirty="0">
                <a:ea typeface="+mn-lt"/>
                <a:cs typeface="+mn-lt"/>
              </a:rPr>
              <a:t>Entwicklung im Rahmen des Moduls „</a:t>
            </a:r>
            <a:r>
              <a:rPr lang="de-DE" dirty="0" err="1">
                <a:ea typeface="+mn-lt"/>
                <a:cs typeface="+mn-lt"/>
              </a:rPr>
              <a:t>Full-stack</a:t>
            </a:r>
            <a:r>
              <a:rPr lang="de-DE" dirty="0">
                <a:ea typeface="+mn-lt"/>
                <a:cs typeface="+mn-lt"/>
              </a:rPr>
              <a:t> Development“, bei der moderne Webtechnologien und Softwareengineering im Vordergrund standen</a:t>
            </a:r>
          </a:p>
          <a:p>
            <a:pPr>
              <a:buFont typeface="Arial"/>
              <a:buChar char="•"/>
            </a:pPr>
            <a:r>
              <a:rPr lang="de-DE" b="1" dirty="0">
                <a:ea typeface="+mn-lt"/>
                <a:cs typeface="+mn-lt"/>
              </a:rPr>
              <a:t>Zielgruppe:</a:t>
            </a:r>
          </a:p>
          <a:p>
            <a:pPr lvl="1">
              <a:buFont typeface="Arial"/>
              <a:buChar char="•"/>
            </a:pPr>
            <a:r>
              <a:rPr lang="de-DE" dirty="0">
                <a:ea typeface="+mn-lt"/>
                <a:cs typeface="+mn-lt"/>
              </a:rPr>
              <a:t>Studierende, die ein begrenztes Budget zum Kochen haben</a:t>
            </a:r>
          </a:p>
          <a:p>
            <a:pPr lvl="1">
              <a:buFont typeface="Arial"/>
              <a:buChar char="•"/>
            </a:pPr>
            <a:r>
              <a:rPr lang="de-DE" dirty="0">
                <a:ea typeface="+mn-lt"/>
                <a:cs typeface="+mn-lt"/>
              </a:rPr>
              <a:t>Familien, die Unterstützung bei der Planung und Zubereitung gesunder Mahlzeiten brauchen</a:t>
            </a:r>
          </a:p>
          <a:p>
            <a:pPr lvl="1">
              <a:buFont typeface="Arial"/>
              <a:buChar char="•"/>
            </a:pPr>
            <a:r>
              <a:rPr lang="de-DE" dirty="0">
                <a:ea typeface="+mn-lt"/>
                <a:cs typeface="+mn-lt"/>
              </a:rPr>
              <a:t>Umweltbewusste Verbraucher, die Hilfe bei der Resteverwertung brauchen, um Lebensmittelverschwendung zu reduzieren</a:t>
            </a:r>
          </a:p>
          <a:p>
            <a:pPr lvl="1">
              <a:buFont typeface="Arial"/>
              <a:buChar char="•"/>
            </a:pPr>
            <a:r>
              <a:rPr lang="de-DE" dirty="0">
                <a:ea typeface="+mn-lt"/>
                <a:cs typeface="+mn-lt"/>
              </a:rPr>
              <a:t>Berufstätige, die sich schnelle, einfache Rezepte für den hektischen Alltag wünschen</a:t>
            </a:r>
          </a:p>
          <a:p>
            <a:pPr>
              <a:buFont typeface="Arial"/>
              <a:buChar char="•"/>
            </a:pPr>
            <a:endParaRPr lang="de-DE" dirty="0"/>
          </a:p>
          <a:p>
            <a:pPr marL="285750" indent="-285750">
              <a:buFont typeface="Arial"/>
              <a:buChar char="•"/>
            </a:pP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5591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DE26B-DB45-681D-0094-821B0E76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C36FED89-4CD4-5E46-F4B5-722BC5983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172" y="548745"/>
            <a:ext cx="5676927" cy="3269447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Produktidee</a:t>
            </a:r>
          </a:p>
        </p:txBody>
      </p:sp>
    </p:spTree>
    <p:extLst>
      <p:ext uri="{BB962C8B-B14F-4D97-AF65-F5344CB8AC3E}">
        <p14:creationId xmlns:p14="http://schemas.microsoft.com/office/powerpoint/2010/main" val="3207866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6325E-6C45-627F-E9C4-C988B4500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7D3F91-6CEF-5EF9-9730-4192E3FE6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9176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de-DE" b="1" dirty="0"/>
              <a:t>Zutaten-Erkennung: </a:t>
            </a:r>
            <a:r>
              <a:rPr lang="de-DE" dirty="0"/>
              <a:t>Automatisches Scannen mithilfe von Bilderkennung</a:t>
            </a:r>
          </a:p>
          <a:p>
            <a:pPr marL="285750" indent="-285750">
              <a:buFont typeface="Arial"/>
              <a:buChar char="•"/>
            </a:pPr>
            <a:r>
              <a:rPr lang="de-DE" b="1" dirty="0"/>
              <a:t>Rezeptsuche: </a:t>
            </a:r>
            <a:r>
              <a:rPr lang="de-DE" dirty="0"/>
              <a:t>Über 5000 Rezepte basierend auf gescannten Zutaten</a:t>
            </a:r>
          </a:p>
          <a:p>
            <a:pPr marL="285750" indent="-285750">
              <a:buFont typeface="Arial"/>
              <a:buChar char="•"/>
            </a:pPr>
            <a:r>
              <a:rPr lang="de-DE" b="1" dirty="0"/>
              <a:t>Community-Integration: </a:t>
            </a:r>
            <a:r>
              <a:rPr lang="de-DE" dirty="0"/>
              <a:t>Erstellen und Teilen von Rezepten</a:t>
            </a:r>
          </a:p>
          <a:p>
            <a:pPr marL="285750" indent="-285750">
              <a:buFont typeface="Arial"/>
              <a:buChar char="•"/>
            </a:pPr>
            <a:r>
              <a:rPr lang="de-DE" b="1" dirty="0"/>
              <a:t>Filteroptionen: </a:t>
            </a:r>
            <a:r>
              <a:rPr lang="de-DE" dirty="0"/>
              <a:t>Nährwerte, Zeit, vegan und mehr.</a:t>
            </a:r>
          </a:p>
          <a:p>
            <a:pPr marL="285750" indent="-285750">
              <a:buFont typeface="Arial"/>
              <a:buChar char="•"/>
            </a:pPr>
            <a:r>
              <a:rPr lang="de-DE" b="1" dirty="0"/>
              <a:t>Achievements: </a:t>
            </a:r>
            <a:r>
              <a:rPr lang="de-DE" dirty="0"/>
              <a:t>Erreiche motivierende Kochziele</a:t>
            </a:r>
          </a:p>
          <a:p>
            <a:pPr marL="285750" indent="-285750">
              <a:buFont typeface="Arial"/>
              <a:buChar char="•"/>
            </a:pPr>
            <a:r>
              <a:rPr lang="de-DE" b="1" dirty="0"/>
              <a:t>Wochenplanung: </a:t>
            </a:r>
            <a:r>
              <a:rPr lang="de-DE" dirty="0"/>
              <a:t>Planen von Rezepten für die ganze Woche</a:t>
            </a:r>
          </a:p>
          <a:p>
            <a:pPr marL="285750" indent="-285750">
              <a:buFont typeface="Arial"/>
              <a:buChar char="•"/>
            </a:pPr>
            <a:r>
              <a:rPr lang="de-DE" b="1" dirty="0"/>
              <a:t>Automatische Einkaufslisten: </a:t>
            </a:r>
            <a:r>
              <a:rPr lang="de-DE" dirty="0"/>
              <a:t>Generiert basierend auf Wochenplan</a:t>
            </a:r>
            <a:endParaRPr lang="de-DE" b="1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F7D3D9B3-B801-06B2-3B7D-E675D7472BBD}"/>
              </a:ext>
            </a:extLst>
          </p:cNvPr>
          <p:cNvSpPr txBox="1">
            <a:spLocks/>
          </p:cNvSpPr>
          <p:nvPr/>
        </p:nvSpPr>
        <p:spPr>
          <a:xfrm>
            <a:off x="1158864" y="984336"/>
            <a:ext cx="9779183" cy="12731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de-DE" dirty="0"/>
              <a:t>Features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1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4CBB8-C56A-3671-3DB4-50539040F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C5D5F4-B141-BE08-18CF-8A0329B90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9176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b="1" dirty="0"/>
              <a:t>Kurzfristige Ziele: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Markteinführung: </a:t>
            </a:r>
            <a:r>
              <a:rPr lang="de-DE" dirty="0"/>
              <a:t>Erfolgreicher Launch der App auf Android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Community-Wachstum: </a:t>
            </a:r>
            <a:r>
              <a:rPr lang="de-DE" dirty="0"/>
              <a:t>Aufbau einer aktiven Nutzerbasis -&gt; Profitabilität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Feature-Optimierung: </a:t>
            </a:r>
            <a:r>
              <a:rPr lang="de-DE" dirty="0"/>
              <a:t>Umsetzen von Community-Feedback</a:t>
            </a:r>
          </a:p>
          <a:p>
            <a:pPr>
              <a:buFont typeface="Arial" panose="020B0604020202020204" pitchFamily="34" charset="0"/>
              <a:buChar char="•"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Langfristige Visionen: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Erweiterung: </a:t>
            </a:r>
            <a:r>
              <a:rPr lang="de-DE" dirty="0"/>
              <a:t>Integration zusätzlicher Funktionen wie AR-Kochen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Globale Verfügbarkeit: </a:t>
            </a:r>
            <a:r>
              <a:rPr lang="de-DE" dirty="0"/>
              <a:t>Bereitstellung der App in weiteren Sprachen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Eigenes KI-Modell: </a:t>
            </a:r>
            <a:r>
              <a:rPr lang="de-DE" dirty="0"/>
              <a:t>Zutatenerkennung und Kreation eigener Rezepte</a:t>
            </a:r>
            <a:endParaRPr lang="de-DE" b="1" dirty="0"/>
          </a:p>
          <a:p>
            <a:endParaRPr lang="de-DE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895CA61C-EDD0-8A9D-8711-EA35E628776C}"/>
              </a:ext>
            </a:extLst>
          </p:cNvPr>
          <p:cNvSpPr txBox="1">
            <a:spLocks/>
          </p:cNvSpPr>
          <p:nvPr/>
        </p:nvSpPr>
        <p:spPr>
          <a:xfrm>
            <a:off x="1158864" y="984336"/>
            <a:ext cx="9779183" cy="12731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de-DE" dirty="0"/>
              <a:t>Ziele und Visionen</a:t>
            </a:r>
          </a:p>
          <a:p>
            <a:endParaRPr lang="de-DE" dirty="0"/>
          </a:p>
        </p:txBody>
      </p:sp>
      <p:pic>
        <p:nvPicPr>
          <p:cNvPr id="6" name="Grafik 5" descr="Volltreffer Silhouette">
            <a:extLst>
              <a:ext uri="{FF2B5EF4-FFF2-40B4-BE49-F238E27FC236}">
                <a16:creationId xmlns:a16="http://schemas.microsoft.com/office/drawing/2014/main" id="{D88A453B-5BD5-E839-4805-90A096DB5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77225" y="922875"/>
            <a:ext cx="914400" cy="914400"/>
          </a:xfrm>
          <a:prstGeom prst="rect">
            <a:avLst/>
          </a:prstGeom>
        </p:spPr>
      </p:pic>
      <p:pic>
        <p:nvPicPr>
          <p:cNvPr id="8" name="Grafik 7" descr="Kennzeichen Silhouette">
            <a:extLst>
              <a:ext uri="{FF2B5EF4-FFF2-40B4-BE49-F238E27FC236}">
                <a16:creationId xmlns:a16="http://schemas.microsoft.com/office/drawing/2014/main" id="{E9A64CEE-462B-32D0-52B6-D695CA7DE7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9425" y="4964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082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4B334-DD14-F384-B246-FE95B7081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87E5F1-265D-3E30-74D6-BF6D0FAA8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8332607" cy="39176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b="1" dirty="0"/>
              <a:t>Zielmarkt: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Wachsender Bedarf: </a:t>
            </a:r>
            <a:r>
              <a:rPr lang="de-DE" dirty="0"/>
              <a:t>Steigendes Interesse an gesundem und nachhaltigem Kochen, besonders bei jüngeren Generationen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Breite Zielgruppe: </a:t>
            </a:r>
            <a:r>
              <a:rPr lang="de-DE" dirty="0"/>
              <a:t>Verschiedene Zielgruppen, wie Familien, Studenten, Berufstätige</a:t>
            </a:r>
          </a:p>
          <a:p>
            <a:pPr marL="0" indent="0">
              <a:buNone/>
            </a:pPr>
            <a:r>
              <a:rPr lang="de-DE" b="1" dirty="0"/>
              <a:t>Branchenanalyse: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Trends: </a:t>
            </a:r>
            <a:r>
              <a:rPr lang="de-DE" dirty="0"/>
              <a:t>Zunehmende Beliebtheit von Mobile Apps für Essensplanung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Wettbewerbsvorteil: </a:t>
            </a:r>
            <a:r>
              <a:rPr lang="de-DE" dirty="0"/>
              <a:t>Innovative Features wie Communityintegration und Bilderkennung</a:t>
            </a:r>
          </a:p>
          <a:p>
            <a:pPr>
              <a:buFont typeface="Arial" panose="020B0604020202020204" pitchFamily="34" charset="0"/>
              <a:buChar char="•"/>
            </a:pPr>
            <a:endParaRPr lang="de-DE" b="1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9409E509-120E-48DF-902C-A9BBDAF9B2A9}"/>
              </a:ext>
            </a:extLst>
          </p:cNvPr>
          <p:cNvSpPr txBox="1">
            <a:spLocks/>
          </p:cNvSpPr>
          <p:nvPr/>
        </p:nvSpPr>
        <p:spPr>
          <a:xfrm>
            <a:off x="1158864" y="984336"/>
            <a:ext cx="9779183" cy="12731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de-DE" dirty="0"/>
              <a:t>Marktpotenzial</a:t>
            </a:r>
          </a:p>
          <a:p>
            <a:endParaRPr lang="de-DE" dirty="0"/>
          </a:p>
        </p:txBody>
      </p:sp>
      <p:pic>
        <p:nvPicPr>
          <p:cNvPr id="9" name="Grafik 8" descr="Aufwärtstrend Silhouette">
            <a:extLst>
              <a:ext uri="{FF2B5EF4-FFF2-40B4-BE49-F238E27FC236}">
                <a16:creationId xmlns:a16="http://schemas.microsoft.com/office/drawing/2014/main" id="{B0DB58AC-EFF2-AF55-DA11-C07171A92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900" y="52713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32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E2B83-36F2-6183-8215-4EF158ECB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D98EE2-6A58-9187-59BD-1EE4F1CC6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1790700"/>
            <a:ext cx="7451735" cy="48863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b="1" dirty="0"/>
              <a:t>Freemium-Modell: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Basisversion: </a:t>
            </a:r>
            <a:r>
              <a:rPr lang="de-DE" dirty="0"/>
              <a:t>Kostenloser Zugriff auf grundlegende Funktionen wie Zutaten-Erkennung und einfache Rezeptsuche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Premiumversion: </a:t>
            </a:r>
            <a:r>
              <a:rPr lang="de-DE" dirty="0"/>
              <a:t>Zusätzliche Funktionen wie erweiterter Rezeptfilter, Wochenplanung und Werbefreiheit</a:t>
            </a:r>
          </a:p>
          <a:p>
            <a:pPr marL="0" indent="0">
              <a:buNone/>
            </a:pPr>
            <a:r>
              <a:rPr lang="de-DE" b="1" dirty="0"/>
              <a:t>In-App-Käufe: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Themenpakete: </a:t>
            </a:r>
            <a:r>
              <a:rPr lang="de-DE" dirty="0"/>
              <a:t>Spezielle Rezeptpakete (z.B. Diät)</a:t>
            </a:r>
          </a:p>
          <a:p>
            <a:pPr marL="0" indent="0">
              <a:buNone/>
            </a:pPr>
            <a:r>
              <a:rPr lang="de-DE" b="1" dirty="0"/>
              <a:t>Partnerschaften: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Lebensmitteldienste: </a:t>
            </a:r>
            <a:r>
              <a:rPr lang="de-DE" dirty="0"/>
              <a:t>Kooperation mit Supermärkten zur Einbindung von Rabattaktionen oder vorgeschlagenen Produkten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Produktplatzierung: </a:t>
            </a:r>
            <a:r>
              <a:rPr lang="de-DE" dirty="0"/>
              <a:t>Platzierung von spezifischen Markenprodukten bei den Zutatenvorschlägen</a:t>
            </a:r>
            <a:endParaRPr lang="de-DE" b="1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3329FF14-8834-3EDF-6E6E-148F863A3E5D}"/>
              </a:ext>
            </a:extLst>
          </p:cNvPr>
          <p:cNvSpPr txBox="1">
            <a:spLocks/>
          </p:cNvSpPr>
          <p:nvPr/>
        </p:nvSpPr>
        <p:spPr>
          <a:xfrm>
            <a:off x="1158864" y="984336"/>
            <a:ext cx="9779183" cy="12731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de-DE" dirty="0"/>
              <a:t>Monetarisierung</a:t>
            </a:r>
          </a:p>
          <a:p>
            <a:endParaRPr lang="de-DE" dirty="0"/>
          </a:p>
        </p:txBody>
      </p:sp>
      <p:pic>
        <p:nvPicPr>
          <p:cNvPr id="4" name="Grafik 3" descr="Fliegendes Geld Silhouette">
            <a:extLst>
              <a:ext uri="{FF2B5EF4-FFF2-40B4-BE49-F238E27FC236}">
                <a16:creationId xmlns:a16="http://schemas.microsoft.com/office/drawing/2014/main" id="{041EB86D-9994-E0B6-538A-553E159F5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9000" y="7065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9AFF0-25C9-EADA-E441-90955355F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661684FA-E31C-DCBA-B98A-F4374BC78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172" y="548745"/>
            <a:ext cx="6165452" cy="3269447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Systemarchitektur</a:t>
            </a:r>
          </a:p>
        </p:txBody>
      </p:sp>
    </p:spTree>
    <p:extLst>
      <p:ext uri="{BB962C8B-B14F-4D97-AF65-F5344CB8AC3E}">
        <p14:creationId xmlns:p14="http://schemas.microsoft.com/office/powerpoint/2010/main" val="3779738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7E902-F99C-CBCC-D560-8DC790D32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AC77A6-F230-2703-7A38-9C58EC1E9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tx1"/>
                </a:solidFill>
              </a:rPr>
              <a:t>Systemarchitektur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99A9CCF0-7A9D-ADD1-0CB7-0A381A3C4F08}"/>
              </a:ext>
            </a:extLst>
          </p:cNvPr>
          <p:cNvSpPr/>
          <p:nvPr/>
        </p:nvSpPr>
        <p:spPr>
          <a:xfrm>
            <a:off x="542925" y="2428874"/>
            <a:ext cx="3695700" cy="16954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F6F4D84-E9EA-069C-5C60-31F396A2C31C}"/>
              </a:ext>
            </a:extLst>
          </p:cNvPr>
          <p:cNvSpPr txBox="1"/>
          <p:nvPr/>
        </p:nvSpPr>
        <p:spPr>
          <a:xfrm>
            <a:off x="685800" y="2455305"/>
            <a:ext cx="1032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Backend</a:t>
            </a:r>
          </a:p>
        </p:txBody>
      </p:sp>
      <p:pic>
        <p:nvPicPr>
          <p:cNvPr id="6148" name="Picture 4" descr="Node.js&quot; Icon - Download for free – Iconduck">
            <a:extLst>
              <a:ext uri="{FF2B5EF4-FFF2-40B4-BE49-F238E27FC236}">
                <a16:creationId xmlns:a16="http://schemas.microsoft.com/office/drawing/2014/main" id="{3061847C-BC59-92F8-4DDB-5489BDBF1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552" y="2912767"/>
            <a:ext cx="657225" cy="741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6" descr="Prisma Vector Logo - Download Free SVG Icon | Worldvectorlogo">
            <a:extLst>
              <a:ext uri="{FF2B5EF4-FFF2-40B4-BE49-F238E27FC236}">
                <a16:creationId xmlns:a16="http://schemas.microsoft.com/office/drawing/2014/main" id="{6B04651F-12A0-7D52-F63A-9851CCDF9F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32477" y="-737869"/>
            <a:ext cx="2047875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14626EA-9E42-07CB-6B9D-463839759D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3365" y="2604095"/>
            <a:ext cx="1620745" cy="636628"/>
          </a:xfrm>
          <a:prstGeom prst="rect">
            <a:avLst/>
          </a:prstGeom>
        </p:spPr>
      </p:pic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D85D5744-21B8-1B29-9EFF-0A4644E9B801}"/>
              </a:ext>
            </a:extLst>
          </p:cNvPr>
          <p:cNvSpPr/>
          <p:nvPr/>
        </p:nvSpPr>
        <p:spPr>
          <a:xfrm>
            <a:off x="542925" y="4710650"/>
            <a:ext cx="3695700" cy="16954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E37176E-1CF0-F0C0-EBB3-95F646E20706}"/>
              </a:ext>
            </a:extLst>
          </p:cNvPr>
          <p:cNvSpPr txBox="1"/>
          <p:nvPr/>
        </p:nvSpPr>
        <p:spPr>
          <a:xfrm>
            <a:off x="685800" y="4737081"/>
            <a:ext cx="1269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Datenbank</a:t>
            </a:r>
          </a:p>
        </p:txBody>
      </p:sp>
      <p:sp>
        <p:nvSpPr>
          <p:cNvPr id="16" name="Pfeil: nach oben und unten 15">
            <a:extLst>
              <a:ext uri="{FF2B5EF4-FFF2-40B4-BE49-F238E27FC236}">
                <a16:creationId xmlns:a16="http://schemas.microsoft.com/office/drawing/2014/main" id="{9CDD5ABD-7681-F477-A701-01622159C875}"/>
              </a:ext>
            </a:extLst>
          </p:cNvPr>
          <p:cNvSpPr/>
          <p:nvPr/>
        </p:nvSpPr>
        <p:spPr>
          <a:xfrm>
            <a:off x="2197167" y="4155114"/>
            <a:ext cx="317432" cy="529444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69767814-E873-874C-89D7-8CA55AEBFD6E}"/>
              </a:ext>
            </a:extLst>
          </p:cNvPr>
          <p:cNvSpPr/>
          <p:nvPr/>
        </p:nvSpPr>
        <p:spPr>
          <a:xfrm>
            <a:off x="6291072" y="4652629"/>
            <a:ext cx="3521142" cy="181149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043725F3-76F7-0736-275B-73A492235D87}"/>
              </a:ext>
            </a:extLst>
          </p:cNvPr>
          <p:cNvSpPr txBox="1"/>
          <p:nvPr/>
        </p:nvSpPr>
        <p:spPr>
          <a:xfrm>
            <a:off x="6442008" y="4710989"/>
            <a:ext cx="1549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Externe APIs</a:t>
            </a:r>
          </a:p>
        </p:txBody>
      </p:sp>
      <p:sp>
        <p:nvSpPr>
          <p:cNvPr id="25" name="Pfeil: nach oben und unten 24">
            <a:extLst>
              <a:ext uri="{FF2B5EF4-FFF2-40B4-BE49-F238E27FC236}">
                <a16:creationId xmlns:a16="http://schemas.microsoft.com/office/drawing/2014/main" id="{9899590F-A506-CD8F-773C-DF3FF592D551}"/>
              </a:ext>
            </a:extLst>
          </p:cNvPr>
          <p:cNvSpPr/>
          <p:nvPr/>
        </p:nvSpPr>
        <p:spPr>
          <a:xfrm rot="5400000">
            <a:off x="5116479" y="2322836"/>
            <a:ext cx="317432" cy="2047874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Pfeil: nach oben und unten 25">
            <a:extLst>
              <a:ext uri="{FF2B5EF4-FFF2-40B4-BE49-F238E27FC236}">
                <a16:creationId xmlns:a16="http://schemas.microsoft.com/office/drawing/2014/main" id="{42142549-2E67-6F7D-C403-ADA44DC5932D}"/>
              </a:ext>
            </a:extLst>
          </p:cNvPr>
          <p:cNvSpPr/>
          <p:nvPr/>
        </p:nvSpPr>
        <p:spPr>
          <a:xfrm rot="17833237">
            <a:off x="5136671" y="3226366"/>
            <a:ext cx="317432" cy="2280008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DF4F7AF0-7801-E2A8-D352-94DDEF572B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20068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225D23C7-0546-7358-BEDF-DD7E8AB606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4" name="AutoShape 12">
            <a:extLst>
              <a:ext uri="{FF2B5EF4-FFF2-40B4-BE49-F238E27FC236}">
                <a16:creationId xmlns:a16="http://schemas.microsoft.com/office/drawing/2014/main" id="{40EC6E4F-8391-50F1-D6E1-21E37C0F5D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1034" name="Picture 10" descr="25 Postgresql Icons, Logos, Symbols - Free Download in SVG, PNG, ICO |  IconScout">
            <a:extLst>
              <a:ext uri="{FF2B5EF4-FFF2-40B4-BE49-F238E27FC236}">
                <a16:creationId xmlns:a16="http://schemas.microsoft.com/office/drawing/2014/main" id="{C9C7287E-B966-2B32-A3CA-876944432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382" y="4955450"/>
            <a:ext cx="1269707" cy="126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D394549A-1FB6-58DB-CF78-BF80B4CFF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969" y="3483700"/>
            <a:ext cx="1649593" cy="500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4E257CAC-07DB-1305-C5A3-CC156F27AA13}"/>
              </a:ext>
            </a:extLst>
          </p:cNvPr>
          <p:cNvSpPr/>
          <p:nvPr/>
        </p:nvSpPr>
        <p:spPr>
          <a:xfrm>
            <a:off x="6248400" y="2455305"/>
            <a:ext cx="3695700" cy="16954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F2888D6D-C5BE-1EEC-739F-CDD2C1CCCB3C}"/>
              </a:ext>
            </a:extLst>
          </p:cNvPr>
          <p:cNvSpPr txBox="1"/>
          <p:nvPr/>
        </p:nvSpPr>
        <p:spPr>
          <a:xfrm>
            <a:off x="6391275" y="2481736"/>
            <a:ext cx="1059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Frontend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FB7D61C2-F51C-95EA-E5A9-533DC1B04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3933" y="2925293"/>
            <a:ext cx="865670" cy="1016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C952C4FF-DC7A-2FCF-AC0D-6791C9F43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1798" y="3143533"/>
            <a:ext cx="1988554" cy="570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utoShape 12" descr="spoonacular logo">
            <a:extLst>
              <a:ext uri="{FF2B5EF4-FFF2-40B4-BE49-F238E27FC236}">
                <a16:creationId xmlns:a16="http://schemas.microsoft.com/office/drawing/2014/main" id="{223409D2-606B-D065-02A1-B95A9DB19B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1038" name="Picture 14" descr="spoonacular food companion - Apps on Google Play">
            <a:extLst>
              <a:ext uri="{FF2B5EF4-FFF2-40B4-BE49-F238E27FC236}">
                <a16:creationId xmlns:a16="http://schemas.microsoft.com/office/drawing/2014/main" id="{5DB76DA8-D5BD-7A44-F7C4-254F85D3A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0779" y="5138681"/>
            <a:ext cx="971341" cy="971341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6B0EF6B-456A-9402-0331-B530504E6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910" y="5446926"/>
            <a:ext cx="1371257" cy="37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838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172" y="548745"/>
            <a:ext cx="5277269" cy="3269447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 err="1"/>
              <a:t>Lessons</a:t>
            </a:r>
            <a:r>
              <a:rPr lang="de-DE" dirty="0"/>
              <a:t> </a:t>
            </a:r>
            <a:r>
              <a:rPr lang="de-DE" dirty="0" err="1"/>
              <a:t>learned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19714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C3899-951A-866E-691B-5B3EDA9DC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C8FEB8-DA71-C406-7B8E-5835BE486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1790700"/>
            <a:ext cx="7451735" cy="48863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 dirty="0" err="1"/>
              <a:t>Firebase</a:t>
            </a:r>
            <a:r>
              <a:rPr lang="de-DE" b="1" dirty="0"/>
              <a:t>-Integration: </a:t>
            </a:r>
            <a:r>
              <a:rPr lang="de-DE" dirty="0"/>
              <a:t>Ausgezeichnete Plattform für die Benutzer-Authentifizierung</a:t>
            </a:r>
          </a:p>
          <a:p>
            <a:r>
              <a:rPr lang="de-DE" b="1" dirty="0"/>
              <a:t>Automatisierte Tests und </a:t>
            </a:r>
            <a:r>
              <a:rPr lang="de-DE" b="1" dirty="0" err="1"/>
              <a:t>Deployment</a:t>
            </a:r>
            <a:r>
              <a:rPr lang="de-DE" b="1" dirty="0"/>
              <a:t>: </a:t>
            </a:r>
            <a:r>
              <a:rPr lang="de-DE" dirty="0"/>
              <a:t>Erheblich zur Qualität der App beigetragen, erleichtert Fehlererkennung enorm</a:t>
            </a:r>
          </a:p>
          <a:p>
            <a:r>
              <a:rPr lang="de-DE" b="1" dirty="0"/>
              <a:t>Herausforderung bei Zutatenerkennung: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b="1" dirty="0"/>
              <a:t>Google Vision </a:t>
            </a:r>
            <a:r>
              <a:rPr lang="de-DE" b="1" dirty="0" err="1"/>
              <a:t>Api</a:t>
            </a:r>
            <a:r>
              <a:rPr lang="de-DE" b="1" dirty="0"/>
              <a:t>: </a:t>
            </a:r>
            <a:r>
              <a:rPr lang="de-DE" dirty="0"/>
              <a:t>Ursprünglich verwendete Lösung war unzuverlässig für unsere Anforderungen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b="1" dirty="0"/>
              <a:t>Eigenes Modell: </a:t>
            </a:r>
            <a:r>
              <a:rPr lang="de-DE" dirty="0"/>
              <a:t>Herausforderung wegen unzureichender gelabelter Trainingsdaten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b="1" dirty="0"/>
              <a:t>Endgültige Lösung: </a:t>
            </a:r>
            <a:r>
              <a:rPr lang="de-DE" dirty="0"/>
              <a:t>Umsetzung mit </a:t>
            </a:r>
            <a:r>
              <a:rPr lang="de-DE" dirty="0" err="1"/>
              <a:t>OpenAi</a:t>
            </a:r>
            <a:r>
              <a:rPr lang="de-DE" dirty="0"/>
              <a:t> im Backend beweist sich als sehr zuverlässig</a:t>
            </a:r>
            <a:r>
              <a:rPr lang="de-DE" b="1" dirty="0"/>
              <a:t>  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CD380BF6-4AB5-9EF3-D314-EA0BF6A77D61}"/>
              </a:ext>
            </a:extLst>
          </p:cNvPr>
          <p:cNvSpPr txBox="1">
            <a:spLocks/>
          </p:cNvSpPr>
          <p:nvPr/>
        </p:nvSpPr>
        <p:spPr>
          <a:xfrm>
            <a:off x="1158864" y="984336"/>
            <a:ext cx="9779183" cy="12731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de-DE" dirty="0"/>
              <a:t>Technische Erkenntnisse</a:t>
            </a:r>
          </a:p>
          <a:p>
            <a:endParaRPr lang="de-DE" dirty="0"/>
          </a:p>
        </p:txBody>
      </p:sp>
      <p:pic>
        <p:nvPicPr>
          <p:cNvPr id="6" name="Grafik 5" descr="Idee Silhouette">
            <a:extLst>
              <a:ext uri="{FF2B5EF4-FFF2-40B4-BE49-F238E27FC236}">
                <a16:creationId xmlns:a16="http://schemas.microsoft.com/office/drawing/2014/main" id="{9B2ABA1D-9B3A-0E83-41AB-D44CE5FFD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1850" y="826381"/>
            <a:ext cx="914400" cy="914400"/>
          </a:xfrm>
          <a:prstGeom prst="rect">
            <a:avLst/>
          </a:prstGeom>
        </p:spPr>
      </p:pic>
      <p:pic>
        <p:nvPicPr>
          <p:cNvPr id="8" name="Grafik 7" descr="Zahnräder Silhouette">
            <a:extLst>
              <a:ext uri="{FF2B5EF4-FFF2-40B4-BE49-F238E27FC236}">
                <a16:creationId xmlns:a16="http://schemas.microsoft.com/office/drawing/2014/main" id="{B1B2F978-F8CC-774A-CB31-563DB2BBB3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24875" y="36918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880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5E8D9-3ECB-1A7E-AA0F-6CE1E8FB0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8919D4-60B4-5019-9B39-E98AC59BE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1790700"/>
            <a:ext cx="7451735" cy="48863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 dirty="0"/>
              <a:t>Teamarbeit: </a:t>
            </a:r>
            <a:r>
              <a:rPr lang="de-DE" dirty="0"/>
              <a:t>Effizienzsteigerung durch ein kleines Team (2er-Team), da weniger Abstimmung und Kommunikationsaufwand benötigt wurde</a:t>
            </a:r>
          </a:p>
          <a:p>
            <a:r>
              <a:rPr lang="de-DE" b="1" dirty="0"/>
              <a:t>Flexibilität und Anpassung: </a:t>
            </a:r>
            <a:r>
              <a:rPr lang="de-DE" dirty="0"/>
              <a:t>Wichtigkeit der schnellen Anpassung von verschiedenen Lösungsansätzen bei Problemen</a:t>
            </a:r>
          </a:p>
          <a:p>
            <a:r>
              <a:rPr lang="de-DE" b="1" dirty="0"/>
              <a:t>Rollenverteilung und Verantwortlichkeiten</a:t>
            </a:r>
            <a:r>
              <a:rPr lang="de-DE" dirty="0"/>
              <a:t>: Klare Zuordnung von Aufgaben und Verantwortlichkeiten im Zwei-Personen-Team erleichterte das Projektmanagement und reduzierte Missverständnisse.</a:t>
            </a:r>
          </a:p>
          <a:p>
            <a:endParaRPr lang="de-DE" b="1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F26CF07E-BD31-45D6-580C-03C841E92F31}"/>
              </a:ext>
            </a:extLst>
          </p:cNvPr>
          <p:cNvSpPr txBox="1">
            <a:spLocks/>
          </p:cNvSpPr>
          <p:nvPr/>
        </p:nvSpPr>
        <p:spPr>
          <a:xfrm>
            <a:off x="1158864" y="984336"/>
            <a:ext cx="9779183" cy="12731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de-DE" dirty="0"/>
              <a:t>Organisatorische Erkenntnisse</a:t>
            </a:r>
          </a:p>
          <a:p>
            <a:endParaRPr lang="de-DE" dirty="0"/>
          </a:p>
        </p:txBody>
      </p:sp>
      <p:pic>
        <p:nvPicPr>
          <p:cNvPr id="2" name="Grafik 1" descr="Idee Silhouette">
            <a:extLst>
              <a:ext uri="{FF2B5EF4-FFF2-40B4-BE49-F238E27FC236}">
                <a16:creationId xmlns:a16="http://schemas.microsoft.com/office/drawing/2014/main" id="{680896E6-0E2E-37FD-5D42-D3BBA3C1AA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0525" y="47311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10050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C9111FB9E78DE45818A7A2ABBF8EDF5" ma:contentTypeVersion="6" ma:contentTypeDescription="Ein neues Dokument erstellen." ma:contentTypeScope="" ma:versionID="c45bf96cc1af40af3c8a90091e27dc3e">
  <xsd:schema xmlns:xsd="http://www.w3.org/2001/XMLSchema" xmlns:xs="http://www.w3.org/2001/XMLSchema" xmlns:p="http://schemas.microsoft.com/office/2006/metadata/properties" xmlns:ns3="b7af3e86-f9f2-49b9-954a-ad5c33749f37" targetNamespace="http://schemas.microsoft.com/office/2006/metadata/properties" ma:root="true" ma:fieldsID="0ffa99b0f2f1e6187cfe49a1cd52875f" ns3:_="">
    <xsd:import namespace="b7af3e86-f9f2-49b9-954a-ad5c33749f3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f3e86-f9f2-49b9-954a-ad5c33749f3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7af3e86-f9f2-49b9-954a-ad5c33749f37" xsi:nil="true"/>
  </documentManagement>
</p:properties>
</file>

<file path=customXml/itemProps1.xml><?xml version="1.0" encoding="utf-8"?>
<ds:datastoreItem xmlns:ds="http://schemas.openxmlformats.org/officeDocument/2006/customXml" ds:itemID="{0E7EEDD1-4774-4B18-AF2B-7A390A6B7ABD}">
  <ds:schemaRefs>
    <ds:schemaRef ds:uri="b7af3e86-f9f2-49b9-954a-ad5c33749f3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www.w3.org/XML/1998/namespace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b7af3e86-f9f2-49b9-954a-ad5c33749f37"/>
    <ds:schemaRef ds:uri="http://purl.org/dc/elements/1.1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477</Words>
  <Application>Microsoft Office PowerPoint</Application>
  <PresentationFormat>Breitbild</PresentationFormat>
  <Paragraphs>81</Paragraphs>
  <Slides>15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Arial</vt:lpstr>
      <vt:lpstr>Calibri</vt:lpstr>
      <vt:lpstr>Trebuchet MS</vt:lpstr>
      <vt:lpstr>Wingdings 3</vt:lpstr>
      <vt:lpstr>Facette</vt:lpstr>
      <vt:lpstr> Dein smarter Küchenbegleiter</vt:lpstr>
      <vt:lpstr>Agenda</vt:lpstr>
      <vt:lpstr>Einführung</vt:lpstr>
      <vt:lpstr>PowerPoint-Präsentation</vt:lpstr>
      <vt:lpstr>Kontext der Entwicklung </vt:lpstr>
      <vt:lpstr>Produktidee</vt:lpstr>
      <vt:lpstr>PowerPoint-Präsentation</vt:lpstr>
      <vt:lpstr>PowerPoint-Präsentation</vt:lpstr>
      <vt:lpstr>PowerPoint-Präsentation</vt:lpstr>
      <vt:lpstr>PowerPoint-Präsentation</vt:lpstr>
      <vt:lpstr>Systemarchitektur</vt:lpstr>
      <vt:lpstr>Systemarchitektur</vt:lpstr>
      <vt:lpstr>Lessons learned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Bjarne Zaremba</dc:creator>
  <cp:lastModifiedBy>Bjarne Zaremba</cp:lastModifiedBy>
  <cp:revision>23</cp:revision>
  <dcterms:created xsi:type="dcterms:W3CDTF">2024-10-23T16:27:50Z</dcterms:created>
  <dcterms:modified xsi:type="dcterms:W3CDTF">2025-07-03T13:00:38Z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0x010100BC9111FB9E78DE45818A7A2ABBF8EDF5</vt:lpwstr>
  </property>
  <property fmtid="{D5CDD505-2E9C-101B-9397-08002B2CF9AE}" pid="3" name="MSIP_Label_215a8378-83c2-4201-92fb-48a2f1dbc791_Enabled">
    <vt:lpwstr>true</vt:lpwstr>
  </property>
  <property fmtid="{D5CDD505-2E9C-101B-9397-08002B2CF9AE}" pid="4" name="MSIP_Label_215a8378-83c2-4201-92fb-48a2f1dbc791_SetDate">
    <vt:lpwstr>2025-06-30T07:56:29Z</vt:lpwstr>
  </property>
  <property fmtid="{D5CDD505-2E9C-101B-9397-08002B2CF9AE}" pid="5" name="MSIP_Label_215a8378-83c2-4201-92fb-48a2f1dbc791_Method">
    <vt:lpwstr>Privileged</vt:lpwstr>
  </property>
  <property fmtid="{D5CDD505-2E9C-101B-9397-08002B2CF9AE}" pid="6" name="MSIP_Label_215a8378-83c2-4201-92fb-48a2f1dbc791_Name">
    <vt:lpwstr>Public</vt:lpwstr>
  </property>
  <property fmtid="{D5CDD505-2E9C-101B-9397-08002B2CF9AE}" pid="7" name="MSIP_Label_215a8378-83c2-4201-92fb-48a2f1dbc791_SiteId">
    <vt:lpwstr>e211c965-dd84-4c9f-bc3f-4215552a0857</vt:lpwstr>
  </property>
  <property fmtid="{D5CDD505-2E9C-101B-9397-08002B2CF9AE}" pid="8" name="MSIP_Label_215a8378-83c2-4201-92fb-48a2f1dbc791_ActionId">
    <vt:lpwstr>2b9bcb1b-33fc-4057-a379-6893b3651a05</vt:lpwstr>
  </property>
  <property fmtid="{D5CDD505-2E9C-101B-9397-08002B2CF9AE}" pid="9" name="MSIP_Label_215a8378-83c2-4201-92fb-48a2f1dbc791_ContentBits">
    <vt:lpwstr>2</vt:lpwstr>
  </property>
  <property fmtid="{D5CDD505-2E9C-101B-9397-08002B2CF9AE}" pid="10" name="MSIP_Label_215a8378-83c2-4201-92fb-48a2f1dbc791_Tag">
    <vt:lpwstr>10, 0, 1, 1</vt:lpwstr>
  </property>
  <property fmtid="{D5CDD505-2E9C-101B-9397-08002B2CF9AE}" pid="11" name="ClassificationContentMarkingFooterLocations">
    <vt:lpwstr>Benutzerdefinierte:8</vt:lpwstr>
  </property>
  <property fmtid="{D5CDD505-2E9C-101B-9397-08002B2CF9AE}" pid="12" name="ClassificationContentMarkingFooterText">
    <vt:lpwstr>Public</vt:lpwstr>
  </property>
</Properties>
</file>